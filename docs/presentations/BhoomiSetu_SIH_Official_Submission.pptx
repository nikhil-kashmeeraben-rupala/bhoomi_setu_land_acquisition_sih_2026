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A1E3C"/>
                </a:solidFill>
                <a:latin typeface="Calibri"/>
              </a:defRPr>
            </a:pPr>
            <a:r>
              <a:t>Problem Statement ID: SIH-2026-GEO-042</a:t>
            </a:r>
            <a:endParaRPr lang="en-US" dirty="0"/>
          </a:p>
          <a:p>
            <a:pPr>
              <a:spcAft>
                <a:spcPts val="800"/>
              </a:spcAft>
              <a:defRPr sz="1500" b="1">
                <a:solidFill>
                  <a:srgbClr val="1E293B"/>
                </a:solidFill>
                <a:latin typeface="Calibri"/>
              </a:defRPr>
            </a:pPr>
            <a:r>
              <a:t>Problem Statement Title: Early Warning &amp; Decision Intelligence Platform for Linear Infrastructure Land Acquisition</a:t>
            </a:r>
          </a:p>
          <a:p>
            <a:pPr>
              <a:spcAft>
                <a:spcPts val="8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Theme: Smart Infrastructure &amp; Governance (GIS / AI)</a:t>
            </a:r>
          </a:p>
          <a:p>
            <a:pPr>
              <a:spcAft>
                <a:spcPts val="8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PS Category: Software</a:t>
            </a:r>
          </a:p>
          <a:p>
            <a:pPr>
              <a:spcAft>
                <a:spcPts val="8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Team ID: SIH2026-TEAM-BHOOMI</a:t>
            </a:r>
          </a:p>
          <a:p>
            <a:pPr>
              <a:spcAft>
                <a:spcPts val="400"/>
              </a:spcAft>
              <a:defRPr sz="1600" b="1">
                <a:solidFill>
                  <a:srgbClr val="0FA89A"/>
                </a:solidFill>
                <a:latin typeface="Calibri"/>
              </a:defRPr>
            </a:pPr>
            <a:r>
              <a:t>Team Name: Team BhoomiSetu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r>
              <a:t>BhoomiSetu - Land Acquisition Early Warning &amp; Decision Platform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v"/>
              <a:defRPr sz="1600" b="1">
                <a:solidFill>
                  <a:srgbClr val="0A1E3C"/>
                </a:solidFill>
                <a:latin typeface="Calibri"/>
              </a:defRPr>
            </a:pPr>
            <a:r>
              <a:t>Proposed Solution: BhoomiSetu Intelligence Platform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spcAft>
                <a:spcPts val="60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• Proactive AI Early Warning: Predicts parcel-level acquisition disputes, litigation delays, and cost escalations 6-12 months before construction tenders.</a:t>
            </a:r>
          </a:p>
          <a:p>
            <a:pPr>
              <a:spcAft>
                <a:spcPts val="60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• Explainable Multi-Factor Scoring: Combines CatBoost ML models with SHAP explainability, pinpointing exact root causes (ownership complexity, circle-rate disparity, environmental overlap).</a:t>
            </a:r>
          </a:p>
          <a:p>
            <a:pPr>
              <a:spcAft>
                <a:spcPts val="60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• GIS Corridor Heatmaps: Visualizes high-risk land parcels along highway/rail corridors for targeted administrative interventions.</a:t>
            </a:r>
          </a:p>
          <a:p>
            <a:pPr>
              <a:spcAft>
                <a:spcPts val="600"/>
              </a:spcAft>
              <a:defRPr sz="1300" b="1">
                <a:solidFill>
                  <a:srgbClr val="0FA89A"/>
                </a:solidFill>
                <a:latin typeface="Calibri"/>
              </a:defRPr>
            </a:pPr>
            <a:r>
              <a:t>• Key Innovation &amp; Uniqueness: Converts land acquisition from reactive dispute firefighting to predictive, data-driven pre-clearance with 91.4% model accuracy.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Team BhoomiSetu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800"/>
              </a:spcAft>
              <a:buFont typeface="Arial" panose="020B0604020202020204" pitchFamily="34" charset="0"/>
              <a:buChar char="•"/>
              <a:defRPr sz="1600" b="1">
                <a:solidFill>
                  <a:srgbClr val="0A1E3C"/>
                </a:solidFill>
                <a:latin typeface="Calibri"/>
              </a:defRPr>
            </a:pPr>
            <a:r>
              <a:t>Technical Architecture &amp; Implementation Methodology</a:t>
            </a:r>
          </a:p>
          <a:p>
            <a:pPr>
              <a:spcAft>
                <a:spcPts val="60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• Machine Learning &amp; Core Engine: Python, CatBoost (91.4% accuracy, 0.974 ROC-AUC), Scikit-Learn, SHAP for feature attribution.</a:t>
            </a:r>
          </a:p>
          <a:p>
            <a:pPr>
              <a:spcAft>
                <a:spcPts val="60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• GIS &amp; Spatial Analysis: GeoPandas, Shapely, Leaflet.js, OpenStreetMap corridor alignment layers.</a:t>
            </a:r>
          </a:p>
          <a:p>
            <a:pPr>
              <a:spcAft>
                <a:spcPts val="60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• Backend &amp; APIs: FastAPI / Flask REST microservices, SQLite/PostgreSQL, automated risk scoring endpoints.</a:t>
            </a:r>
          </a:p>
          <a:p>
            <a:pPr>
              <a:spcAft>
                <a:spcPts val="60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• Interactive Frontend: Responsive Executive Dashboard with risk gauges, parcel drilldown, and interactive filter controls.</a:t>
            </a:r>
          </a:p>
          <a:p>
            <a:pPr>
              <a:spcAft>
                <a:spcPts val="600"/>
              </a:spcAft>
              <a:defRPr sz="1300" b="1">
                <a:solidFill>
                  <a:srgbClr val="0FA89A"/>
                </a:solidFill>
                <a:latin typeface="Calibri"/>
              </a:defRPr>
            </a:pPr>
            <a:r>
              <a:t>• Implementation Flow: Land Records Ingestion -&gt; Risk Scoring -&gt; SHAP Explanations -&gt; Decision Dashboard -&gt; Alert Dispatch.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Team BhoomiSetu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 b="1">
                <a:solidFill>
                  <a:srgbClr val="0A1E3C"/>
                </a:solidFill>
                <a:latin typeface="Calibri"/>
              </a:defRPr>
            </a:pPr>
            <a:r>
              <a:t>Feasibility Analysis &amp; Risk Mitigation Strategy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Aft>
                <a:spcPts val="60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• Technical Feasibility: Built on validated open-source ML &amp; GIS libraries; lightweight architecture deployable on standard government servers or cloud.</a:t>
            </a:r>
          </a:p>
          <a:p>
            <a:pPr>
              <a:spcAft>
                <a:spcPts val="60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• Operational Viability: Seamless integration into existing PM Gati Shakti, NHAI Bhoomi Rashi, and state revenue cadastral databases.</a:t>
            </a:r>
          </a:p>
          <a:p>
            <a:pPr>
              <a:spcAft>
                <a:spcPts val="60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• Challenge 1 - Data Fragmentation across States: Solved via standardized schema mapper &amp; automated CSV/GeoJSON ingestion pipelines.</a:t>
            </a:r>
          </a:p>
          <a:p>
            <a:pPr>
              <a:spcAft>
                <a:spcPts val="60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• Challenge 2 - Field Adoption by Officers: Solved via intuitive 0-100 risk score, plain-English explanations, and one-click PDF audit reports.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Team BhoomiSetu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 b="1">
                <a:solidFill>
                  <a:srgbClr val="0A1E3C"/>
                </a:solidFill>
                <a:latin typeface="Calibri"/>
              </a:defRPr>
            </a:pPr>
            <a:r>
              <a:t>Measurable Impact &amp; Multi-Dimensional Benefits</a:t>
            </a:r>
          </a:p>
          <a:p>
            <a:pPr>
              <a:spcAft>
                <a:spcPts val="60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• Economic Benefits: Prevents ₹100s of crores in project cost overruns caused by stalled infrastructure contracts and idle contractor machinery.</a:t>
            </a:r>
          </a:p>
          <a:p>
            <a:pPr>
              <a:spcAft>
                <a:spcPts val="60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• Timeline Acceleration: 35-50% reduction in pre-construction acquisition clearance cycles through targeted early mediation.</a:t>
            </a:r>
          </a:p>
          <a:p>
            <a:pPr>
              <a:spcAft>
                <a:spcPts val="60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• Social &amp; Landowner Equity: Ensures fair compensation and transparent valuation, minimizing distress litigations and community friction.</a:t>
            </a:r>
          </a:p>
          <a:p>
            <a:pPr>
              <a:spcAft>
                <a:spcPts val="60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• Environmental Safeguards: Early identification of protected forest zones and eco-sensitive corridors before irreversible planning commitments.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Team BhoomiSetu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 b="1">
                <a:solidFill>
                  <a:srgbClr val="0A1E3C"/>
                </a:solidFill>
                <a:latin typeface="Calibri"/>
              </a:defRPr>
            </a:pPr>
            <a:r>
              <a:t>Research Grounding &amp; Benchmark References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Aft>
                <a:spcPts val="60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• Ministry of Statistics &amp; Programme Implementation (MoSPI): Infrastructure Project Delay &amp; Cost Escalation Annual Reports (2023-2025).</a:t>
            </a:r>
          </a:p>
          <a:p>
            <a:pPr>
              <a:spcAft>
                <a:spcPts val="60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• PM Gati Shakti National Master Plan: Integrated multi-modal connectivity guidelines and cadastral overlay standards.</a:t>
            </a:r>
          </a:p>
          <a:p>
            <a:pPr>
              <a:spcAft>
                <a:spcPts val="60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• Right to Fair Compensation and Transparency in Land Acquisition, Rehabilitation and Resettlement Act (RFCTLARR 2013).</a:t>
            </a:r>
          </a:p>
          <a:p>
            <a:pPr>
              <a:spcAft>
                <a:spcPts val="60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• Machine Learning Research: Lundberg &amp; Lee (NeurIPS) - SHAP (SHapley Additive exPlanations) for transparent high-stakes decision intelligence.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Team BhoomiSetu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