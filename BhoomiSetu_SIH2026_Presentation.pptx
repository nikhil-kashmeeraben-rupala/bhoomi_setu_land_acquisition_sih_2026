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_ba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A162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2801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A89A"/>
                </a:solidFill>
                <a:latin typeface="Calibri"/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Calibri"/>
              </a:defRPr>
            </a:pPr>
            <a:r>
              <a:t>BhoomiSetu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9260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EDF3"/>
                </a:solidFill>
                <a:latin typeface="Calibri"/>
              </a:defRPr>
            </a:pPr>
            <a:r>
              <a:t>AI-Powered Land Acquisition Early Warning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81047" y="3840480"/>
            <a:ext cx="2560320" cy="45720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1047" y="3886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A89A"/>
                </a:solidFill>
                <a:latin typeface="Calibri"/>
              </a:defRPr>
            </a:pPr>
            <a:r>
              <a:t>🧠  Artificial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15687" y="3840480"/>
            <a:ext cx="2560320" cy="45720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5687" y="3886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A89A"/>
                </a:solidFill>
                <a:latin typeface="Calibri"/>
              </a:defRPr>
            </a:pPr>
            <a:r>
              <a:t>🗺️  GIS Mapping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50327" y="3840480"/>
            <a:ext cx="2560320" cy="45720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0327" y="3886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A89A"/>
                </a:solidFill>
                <a:latin typeface="Calibri"/>
              </a:defRPr>
            </a:pPr>
            <a:r>
              <a:t>📊  Decision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26B82"/>
                </a:solidFill>
                <a:latin typeface="Calibri"/>
              </a:defRPr>
            </a:pPr>
            <a:r>
              <a:t>Team BhoomiSetu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A89A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Land Acquisition Delays Stall</a:t>
            </a:r>
            <a:br/>
            <a:r>
              <a:t>India's Infrastructure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E8EDF3"/>
                </a:solidFill>
                <a:latin typeface="Calibri"/>
              </a:defRPr>
            </a:pPr>
            <a:r>
              <a:t>●  Land acquisition delays slow highways, railways &amp; industrial corridors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E8EDF3"/>
                </a:solidFill>
                <a:latin typeface="Calibri"/>
              </a:defRPr>
            </a:pPr>
            <a:r>
              <a:t>●  Compensation disputes &amp; legal cases create uncertainty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E8EDF3"/>
                </a:solidFill>
                <a:latin typeface="Calibri"/>
              </a:defRPr>
            </a:pPr>
            <a:r>
              <a:t>●  Officials identify risks after delays have already occurred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E8EDF3"/>
                </a:solidFill>
                <a:latin typeface="Calibri"/>
              </a:defRPr>
            </a:pPr>
            <a:r>
              <a:t>●  No early-warning mechanism for proactive intervention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572000"/>
            <a:ext cx="9418320" cy="155448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709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2120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EDF3"/>
                </a:solidFill>
                <a:latin typeface="Calibri"/>
              </a:defRPr>
            </a:pPr>
            <a:r>
              <a:t>Land</a:t>
            </a:r>
            <a:br/>
            <a:r>
              <a:t>Acquisition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5029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444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4709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52120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EDF3"/>
                </a:solidFill>
                <a:latin typeface="Calibri"/>
              </a:defRPr>
            </a:pPr>
            <a:r>
              <a:t>Disputes &amp;</a:t>
            </a:r>
            <a:br/>
            <a:r>
              <a:t>Litigation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5029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444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709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2120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EDF3"/>
                </a:solidFill>
                <a:latin typeface="Calibri"/>
              </a:defRPr>
            </a:pPr>
            <a:r>
              <a:t>Project</a:t>
            </a:r>
            <a:br/>
            <a:r>
              <a:t>Delay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5029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444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4709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52120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EDF3"/>
                </a:solidFill>
                <a:latin typeface="Calibri"/>
              </a:defRPr>
            </a:pPr>
            <a:r>
              <a:t>Cost</a:t>
            </a:r>
            <a:br/>
            <a:r>
              <a:t>Overrun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A89A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Predict Risk. Explain Causes. Act Early.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194560"/>
            <a:ext cx="9418320" cy="137160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331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A89A"/>
                </a:solidFill>
                <a:latin typeface="Calibri"/>
              </a:defRPr>
            </a:pPr>
            <a:r>
              <a:t>Project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560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A8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331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A89A"/>
                </a:solidFill>
                <a:latin typeface="Calibri"/>
              </a:defRPr>
            </a:pPr>
            <a:r>
              <a:t>AI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560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A8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331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A89A"/>
                </a:solidFill>
                <a:latin typeface="Calibri"/>
              </a:defRPr>
            </a:pPr>
            <a:r>
              <a:t>Risk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560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A8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331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A89A"/>
                </a:solidFill>
                <a:latin typeface="Calibri"/>
              </a:defRPr>
            </a:pPr>
            <a:r>
              <a:t>Early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2336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E8EDF3"/>
                </a:solidFill>
                <a:latin typeface="Calibri"/>
              </a:defRPr>
            </a:pPr>
            <a:r>
              <a:t>●  Predict delay risk before it becomes critical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E8EDF3"/>
                </a:solidFill>
                <a:latin typeface="Calibri"/>
              </a:defRPr>
            </a:pPr>
            <a:r>
              <a:t>●  Identify the major factors driving risk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E8EDF3"/>
                </a:solidFill>
                <a:latin typeface="Calibri"/>
              </a:defRPr>
            </a:pPr>
            <a:r>
              <a:t>●  Monitor all projects from one unified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E8EDF3"/>
                </a:solidFill>
                <a:latin typeface="Calibri"/>
              </a:defRPr>
            </a:pPr>
            <a:r>
              <a:t>●  Support proactive administrative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A89A"/>
                </a:solidFill>
                <a:latin typeface="Calibri"/>
              </a:defRPr>
            </a:pPr>
            <a: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How BhoomiSetu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2286000" cy="246888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17320" y="2331720"/>
            <a:ext cx="548640" cy="548640"/>
          </a:xfrm>
          <a:prstGeom prst="ellipse">
            <a:avLst/>
          </a:prstGeom>
          <a:solidFill>
            <a:srgbClr val="0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0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EC5"/>
                </a:solidFill>
                <a:latin typeface="Calibri"/>
              </a:defRPr>
            </a:pPr>
            <a:r>
              <a:t>Project • Land • Legal</a:t>
            </a:r>
            <a:br/>
            <a:r>
              <a:t>Compensation • Stakeholder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A8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103120"/>
            <a:ext cx="2286000" cy="246888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43400" y="2331720"/>
            <a:ext cx="548640" cy="548640"/>
          </a:xfrm>
          <a:prstGeom prst="ellipse">
            <a:avLst/>
          </a:prstGeom>
          <a:solidFill>
            <a:srgbClr val="0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063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520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EC5"/>
                </a:solidFill>
                <a:latin typeface="Calibri"/>
              </a:defRPr>
            </a:pPr>
            <a:r>
              <a:t>ML model predicts</a:t>
            </a:r>
            <a:br/>
            <a:r>
              <a:t>delay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A8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103120"/>
            <a:ext cx="2286000" cy="246888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69480" y="2331720"/>
            <a:ext cx="548640" cy="548640"/>
          </a:xfrm>
          <a:prstGeom prst="ellipse">
            <a:avLst/>
          </a:prstGeom>
          <a:solidFill>
            <a:srgbClr val="0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063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Explainability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520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EC5"/>
                </a:solidFill>
                <a:latin typeface="Calibri"/>
              </a:defRPr>
            </a:pPr>
            <a:r>
              <a:t>SHAP identifies top</a:t>
            </a:r>
            <a:br/>
            <a:r>
              <a:t>risk-driving factors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A8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2103120"/>
            <a:ext cx="2286000" cy="246888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95560" y="2331720"/>
            <a:ext cx="548640" cy="548640"/>
          </a:xfrm>
          <a:prstGeom prst="ellipse">
            <a:avLst/>
          </a:prstGeom>
          <a:solidFill>
            <a:srgbClr val="0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063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Decision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3520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EC5"/>
                </a:solidFill>
                <a:latin typeface="Calibri"/>
              </a:defRPr>
            </a:pPr>
            <a:r>
              <a:t>Alerts • Dashboard</a:t>
            </a:r>
            <a:br/>
            <a:r>
              <a:t>Recommended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26B82"/>
                </a:solidFill>
                <a:latin typeface="Calibri"/>
              </a:defRPr>
            </a:pPr>
            <a:r>
              <a:t>End-to-end pipeline: from raw project data to actionable risk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A89A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AI-Powered Risk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E8EDF3"/>
                </a:solidFill>
                <a:latin typeface="Calibri"/>
              </a:defRPr>
            </a:pPr>
            <a:r>
              <a:t>●  XGBoost Machine Learning classifier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E8EDF3"/>
                </a:solidFill>
                <a:latin typeface="Calibri"/>
              </a:defRPr>
            </a:pPr>
            <a:r>
              <a:t>●  500 decision trees for robust prediction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E8EDF3"/>
                </a:solidFill>
                <a:latin typeface="Calibri"/>
              </a:defRPr>
            </a:pPr>
            <a:r>
              <a:t>●  58 engineered features across 5 domains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E8EDF3"/>
                </a:solidFill>
                <a:latin typeface="Calibri"/>
              </a:defRPr>
            </a:pPr>
            <a:r>
              <a:t>●  Predicts &gt;90 day delay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206240"/>
            <a:ext cx="5029200" cy="164592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26B82"/>
                </a:solidFill>
                <a:latin typeface="Calibri"/>
              </a:defRPr>
            </a:pPr>
            <a:r>
              <a:t>REPORTED MODEL EVALUATION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7091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A89A"/>
                </a:solidFill>
                <a:latin typeface="Calibri"/>
              </a:defRPr>
            </a:pPr>
            <a:r>
              <a:t>91.4%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7091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6A878"/>
                </a:solidFill>
                <a:latin typeface="Calibri"/>
              </a:defRPr>
            </a:pPr>
            <a:r>
              <a:t>0.974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Calibri"/>
              </a:defRPr>
            </a:pPr>
            <a:r>
              <a:t>ROC-AUC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26B82"/>
                </a:solidFill>
                <a:latin typeface="Calibri"/>
              </a:defRPr>
            </a:pPr>
            <a:r>
              <a:t>RISK LEVELS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377440"/>
            <a:ext cx="4572000" cy="68580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16A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514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878"/>
                </a:solidFill>
                <a:latin typeface="Calibri"/>
              </a:defRPr>
            </a:pPr>
            <a:r>
              <a:t>🟢  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542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0BEC5"/>
                </a:solidFill>
                <a:latin typeface="Calibri"/>
              </a:defRPr>
            </a:pPr>
            <a:r>
              <a:t>&lt; 40% probability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246120"/>
            <a:ext cx="4572000" cy="68580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F2A5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383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2A51A"/>
                </a:solidFill>
                <a:latin typeface="Calibri"/>
              </a:defRPr>
            </a:pPr>
            <a:r>
              <a:t>🟡  MODERATE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4107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0BEC5"/>
                </a:solidFill>
                <a:latin typeface="Calibri"/>
              </a:defRPr>
            </a:pPr>
            <a:r>
              <a:t>40 – 59%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114800"/>
            <a:ext cx="4572000" cy="68580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4251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Calibri"/>
              </a:defRPr>
            </a:pPr>
            <a:r>
              <a:t>🟠  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2793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0BEC5"/>
                </a:solidFill>
                <a:latin typeface="Calibri"/>
              </a:defRPr>
            </a:pPr>
            <a:r>
              <a:t>60 – 79%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4983479"/>
            <a:ext cx="4572000" cy="68580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51206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🔴  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514807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0BEC5"/>
                </a:solidFill>
                <a:latin typeface="Calibri"/>
              </a:defRPr>
            </a:pPr>
            <a:r>
              <a:t>≥ 80%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A89A"/>
                </a:solidFill>
                <a:latin typeface="Calibri"/>
              </a:defRPr>
            </a:pPr>
            <a:r>
              <a:t>EXPLAINABLE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Why Is the Project at Risk?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EC5"/>
                </a:solidFill>
                <a:latin typeface="Calibri"/>
              </a:defRPr>
            </a:pPr>
            <a:r>
              <a:t>SHAP analysis reveals the top factors contributing to delay risk —</a:t>
            </a:r>
            <a:br/>
            <a:r>
              <a:t>not just a score, but an explanation.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51760"/>
            <a:ext cx="5486400" cy="338328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88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A51A"/>
                </a:solidFill>
                <a:latin typeface="Calibri"/>
              </a:defRPr>
            </a:pPr>
            <a:r>
              <a:t>ILLUSTRATIVE 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54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3"/>
                </a:solidFill>
                <a:latin typeface="Calibri"/>
              </a:defRPr>
            </a:pPr>
            <a:r>
              <a:t>Compensation 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154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+0.184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429000"/>
            <a:ext cx="4937760" cy="146304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3429000"/>
            <a:ext cx="4542739" cy="146304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3"/>
                </a:solidFill>
                <a:latin typeface="Calibri"/>
              </a:defRPr>
            </a:pPr>
            <a:r>
              <a:t>Legal Disputes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97316"/>
                </a:solidFill>
                <a:latin typeface="Calibri"/>
              </a:defRPr>
            </a:pPr>
            <a:r>
              <a:t>+0.142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977640"/>
            <a:ext cx="4937760" cy="146304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3977640"/>
            <a:ext cx="3653942" cy="146304"/>
          </a:xfrm>
          <a:prstGeom prst="roundRect">
            <a:avLst/>
          </a:prstGeom>
          <a:solidFill>
            <a:srgbClr val="F2A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51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3"/>
                </a:solidFill>
                <a:latin typeface="Calibri"/>
              </a:defRPr>
            </a:pPr>
            <a:r>
              <a:t>Stage Stagnation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251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97316"/>
                </a:solidFill>
                <a:latin typeface="Calibri"/>
              </a:defRPr>
            </a:pPr>
            <a:r>
              <a:t>+0.118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526280"/>
            <a:ext cx="4937760" cy="146304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4526280"/>
            <a:ext cx="3061411" cy="146304"/>
          </a:xfrm>
          <a:prstGeom prst="roundRect">
            <a:avLst/>
          </a:prstGeom>
          <a:solidFill>
            <a:srgbClr val="F2A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8005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3"/>
                </a:solidFill>
                <a:latin typeface="Calibri"/>
              </a:defRPr>
            </a:pPr>
            <a:r>
              <a:t>Stakeholder Friction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80059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2A51A"/>
                </a:solidFill>
                <a:latin typeface="Calibri"/>
              </a:defRPr>
            </a:pPr>
            <a:r>
              <a:t>+0.091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5074919"/>
            <a:ext cx="4937760" cy="146304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97280" y="5074919"/>
            <a:ext cx="2370124" cy="146304"/>
          </a:xfrm>
          <a:prstGeom prst="roundRect">
            <a:avLst/>
          </a:prstGeom>
          <a:solidFill>
            <a:srgbClr val="F2A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349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3"/>
                </a:solidFill>
                <a:latin typeface="Calibri"/>
              </a:defRPr>
            </a:pPr>
            <a:r>
              <a:t>Acquisition 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5349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6A878"/>
                </a:solidFill>
                <a:latin typeface="Calibri"/>
              </a:defRPr>
            </a:pPr>
            <a:r>
              <a:t>−0.076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5623560"/>
            <a:ext cx="4937760" cy="146304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97280" y="5623560"/>
            <a:ext cx="1975104" cy="146304"/>
          </a:xfrm>
          <a:prstGeom prst="roundRect">
            <a:avLst/>
          </a:prstGeom>
          <a:solidFill>
            <a:srgbClr val="16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0" y="2286000"/>
            <a:ext cx="4206240" cy="393192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27432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72%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8404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97316"/>
                </a:solidFill>
                <a:latin typeface="Calibri"/>
              </a:defRPr>
            </a:pPr>
            <a:r>
              <a:t>HIGH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3891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26B82"/>
                </a:solidFill>
                <a:latin typeface="Calibri"/>
              </a:defRPr>
            </a:pPr>
            <a:r>
              <a:t>DEMO SAMPLE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79" y="4937760"/>
            <a:ext cx="877824" cy="164592"/>
          </a:xfrm>
          <a:prstGeom prst="roundRect">
            <a:avLst/>
          </a:prstGeom>
          <a:solidFill>
            <a:srgbClr val="16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75903" y="4937760"/>
            <a:ext cx="585216" cy="164592"/>
          </a:xfrm>
          <a:prstGeom prst="roundRect">
            <a:avLst/>
          </a:prstGeom>
          <a:solidFill>
            <a:srgbClr val="F2A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61119" y="4937760"/>
            <a:ext cx="585216" cy="164592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546335" y="4937760"/>
            <a:ext cx="877824" cy="164592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53035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B82"/>
                </a:solidFill>
                <a:latin typeface="Calibri"/>
              </a:defRPr>
            </a:pPr>
            <a:r>
              <a:t>Risk score with factor attribution</a:t>
            </a:r>
            <a:br/>
            <a:r>
              <a:t>for transparent decision-making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A89A"/>
                </a:solidFill>
                <a:latin typeface="Calibri"/>
              </a:defRPr>
            </a:pPr>
            <a:r>
              <a:t>COMMAND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One Dashboard. Complete Visibility.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A51A"/>
                </a:solidFill>
                <a:latin typeface="Calibri"/>
              </a:defRPr>
            </a:pPr>
            <a:r>
              <a:t>ILLUSTRATIVE DEMO DATA — NOT PRODUCTION STATISTICS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1920240" cy="137160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0BEC5"/>
                </a:solidFill>
                <a:latin typeface="Calibri"/>
              </a:defRPr>
            </a:pPr>
            <a:r>
              <a:t>TOTAL PROJECTS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A89A"/>
                </a:solidFill>
                <a:latin typeface="Calibri"/>
              </a:defRPr>
            </a:pPr>
            <a:r>
              <a:t>128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920240"/>
            <a:ext cx="1920240" cy="137160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2103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0BEC5"/>
                </a:solidFill>
                <a:latin typeface="Calibri"/>
              </a:defRPr>
            </a:pPr>
            <a:r>
              <a:t>LOW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423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6A878"/>
                </a:solidFill>
                <a:latin typeface="Calibri"/>
              </a:defRPr>
            </a:pPr>
            <a:r>
              <a:t>66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920240"/>
            <a:ext cx="1920240" cy="137160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103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0BEC5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423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2A51A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920240"/>
            <a:ext cx="1920240" cy="137160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2103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0BEC5"/>
                </a:solidFill>
                <a:latin typeface="Calibri"/>
              </a:defRPr>
            </a:pPr>
            <a:r>
              <a:t>HIGH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423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97316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1920240"/>
            <a:ext cx="1920240" cy="137160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103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0BEC5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423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4444"/>
                </a:solidFill>
                <a:latin typeface="Calibri"/>
              </a:defRPr>
            </a:pPr>
            <a:r>
              <a:t>7</a:t>
            </a:r>
          </a:p>
        </p:txBody>
      </p:sp>
      <p:pic>
        <p:nvPicPr>
          <p:cNvPr id="20" name="Picture 19" descr="dashboard_mock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566160"/>
            <a:ext cx="105156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A89A"/>
                </a:solidFill>
                <a:latin typeface="Calibri"/>
              </a:defRPr>
            </a:pPr>
            <a:r>
              <a:t>SPATIAL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See Risk on the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E8EDF3"/>
                </a:solidFill>
                <a:latin typeface="Calibri"/>
              </a:defRPr>
            </a:pPr>
            <a:r>
              <a:t>●  Project locations across India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E8EDF3"/>
                </a:solidFill>
                <a:latin typeface="Calibri"/>
              </a:defRPr>
            </a:pPr>
            <a:r>
              <a:t>●  Infrastructure corridor mapping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E8EDF3"/>
                </a:solidFill>
                <a:latin typeface="Calibri"/>
              </a:defRPr>
            </a:pPr>
            <a:r>
              <a:t>●  District-level risk concentration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E8EDF3"/>
                </a:solidFill>
                <a:latin typeface="Calibri"/>
              </a:defRPr>
            </a:pPr>
            <a:r>
              <a:t>●  Spatial conflict detection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4251960"/>
            <a:ext cx="137160" cy="137160"/>
          </a:xfrm>
          <a:prstGeom prst="ellipse">
            <a:avLst/>
          </a:prstGeom>
          <a:solidFill>
            <a:srgbClr val="16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7" name="Oval 6"/>
          <p:cNvSpPr/>
          <p:nvPr/>
        </p:nvSpPr>
        <p:spPr>
          <a:xfrm>
            <a:off x="2103120" y="4251960"/>
            <a:ext cx="137160" cy="137160"/>
          </a:xfrm>
          <a:prstGeom prst="ellipse">
            <a:avLst/>
          </a:prstGeom>
          <a:solidFill>
            <a:srgbClr val="F2A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4206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9" name="Oval 8"/>
          <p:cNvSpPr/>
          <p:nvPr/>
        </p:nvSpPr>
        <p:spPr>
          <a:xfrm>
            <a:off x="3291840" y="4251960"/>
            <a:ext cx="137160" cy="13716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4206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1" name="Oval 10"/>
          <p:cNvSpPr/>
          <p:nvPr/>
        </p:nvSpPr>
        <p:spPr>
          <a:xfrm>
            <a:off x="4480560" y="4251960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4206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A51A"/>
                </a:solidFill>
                <a:latin typeface="Calibri"/>
              </a:defRPr>
            </a:pPr>
            <a:r>
              <a:t>DEMO VISUALIZATION</a:t>
            </a:r>
          </a:p>
        </p:txBody>
      </p:sp>
      <p:pic>
        <p:nvPicPr>
          <p:cNvPr id="14" name="Picture 13" descr="gis_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59436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A89A"/>
                </a:solidFill>
                <a:latin typeface="Calibri"/>
              </a:defRPr>
            </a:pPr>
            <a:r>
              <a:t>PLATFORM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754880" cy="82296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AI Early Warning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4754880" cy="82296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Explainable AI (SHAP)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63240"/>
            <a:ext cx="4754880" cy="82296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00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🗺️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246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GIS Corridor Mapping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63240"/>
            <a:ext cx="4754880" cy="82296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246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Legal &amp; Statutory Tracking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114800"/>
            <a:ext cx="4754880" cy="82296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251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297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Compensation Fund Tracking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114800"/>
            <a:ext cx="4754880" cy="82296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251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297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Automated Risk Alerts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166359"/>
            <a:ext cx="4754880" cy="82296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3035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3492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What-If Simulation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166359"/>
            <a:ext cx="4754880" cy="82296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3035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53492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State Benchmarking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A89A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2651760" cy="411480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A89A"/>
                </a:solidFill>
                <a:latin typeface="Calibri"/>
              </a:defRPr>
            </a:pPr>
            <a:r>
              <a:t>🎨  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2331720" cy="384048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3"/>
                </a:solidFill>
                <a:latin typeface="Calibri"/>
              </a:defRPr>
            </a:pPr>
            <a:r>
              <a:t>React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46120"/>
            <a:ext cx="2331720" cy="384048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3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49040"/>
            <a:ext cx="2331720" cy="384048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94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3"/>
                </a:solidFill>
                <a:latin typeface="Calibri"/>
              </a:defRPr>
            </a:pPr>
            <a:r>
              <a:t>Vite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51960"/>
            <a:ext cx="2331720" cy="384048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3"/>
                </a:solidFill>
                <a:latin typeface="Calibri"/>
              </a:defRPr>
            </a:pPr>
            <a:r>
              <a:t>TailwindCSS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54880"/>
            <a:ext cx="2331720" cy="384048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3"/>
                </a:solidFill>
                <a:latin typeface="Calibri"/>
              </a:defRPr>
            </a:pPr>
            <a:r>
              <a:t>Radix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257800"/>
            <a:ext cx="2331720" cy="384048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3035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3"/>
                </a:solidFill>
                <a:latin typeface="Calibri"/>
              </a:defRPr>
            </a:pPr>
            <a:r>
              <a:t>Recharts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2011680"/>
            <a:ext cx="2651760" cy="411480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A89A"/>
                </a:solidFill>
                <a:latin typeface="Calibri"/>
              </a:defRPr>
            </a:pPr>
            <a:r>
              <a:t>⚙️  BACKEND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2743200"/>
            <a:ext cx="2331720" cy="384048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2788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3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3246120"/>
            <a:ext cx="2331720" cy="384048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32918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3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749040"/>
            <a:ext cx="2331720" cy="384048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794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3"/>
                </a:solidFill>
                <a:latin typeface="Calibri"/>
              </a:defRPr>
            </a:pPr>
            <a:r>
              <a:t>SQLAlchemy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4251960"/>
            <a:ext cx="2331720" cy="384048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42976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3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4754880"/>
            <a:ext cx="2331720" cy="384048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48006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3"/>
                </a:solidFill>
                <a:latin typeface="Calibri"/>
              </a:defRPr>
            </a:pPr>
            <a:r>
              <a:t>Redis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0" y="5257800"/>
            <a:ext cx="2331720" cy="384048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53035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3"/>
                </a:solidFill>
                <a:latin typeface="Calibri"/>
              </a:defRPr>
            </a:pPr>
            <a:r>
              <a:t>Alembic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011680"/>
            <a:ext cx="2651760" cy="411480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A89A"/>
                </a:solidFill>
                <a:latin typeface="Calibri"/>
              </a:defRPr>
            </a:pPr>
            <a:r>
              <a:t>🧠  AI / ML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2743200"/>
            <a:ext cx="2331720" cy="384048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2788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3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37960" y="3246120"/>
            <a:ext cx="2331720" cy="384048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2918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3"/>
                </a:solidFill>
                <a:latin typeface="Calibri"/>
              </a:defRPr>
            </a:pPr>
            <a:r>
              <a:t>Scikit-learn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3749040"/>
            <a:ext cx="2331720" cy="384048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794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3"/>
                </a:solidFill>
                <a:latin typeface="Calibri"/>
              </a:defRPr>
            </a:pPr>
            <a:r>
              <a:t>SHAP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37960" y="4251960"/>
            <a:ext cx="2331720" cy="384048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42976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3"/>
                </a:solidFill>
                <a:latin typeface="Calibri"/>
              </a:defRPr>
            </a:pPr>
            <a:r>
              <a:t>Pandas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37960" y="4754880"/>
            <a:ext cx="2331720" cy="384048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48006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3"/>
                </a:solidFill>
                <a:latin typeface="Calibri"/>
              </a:defRPr>
            </a:pPr>
            <a:r>
              <a:t>NumPy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81160" y="2011680"/>
            <a:ext cx="2651760" cy="411480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A89A"/>
                </a:solidFill>
                <a:latin typeface="Calibri"/>
              </a:defRPr>
            </a:pPr>
            <a:r>
              <a:t>🚀  DEPLOY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18320" y="2743200"/>
            <a:ext cx="2331720" cy="384048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18320" y="2788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3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18320" y="3246120"/>
            <a:ext cx="2331720" cy="384048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18320" y="32918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3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18320" y="3749040"/>
            <a:ext cx="2331720" cy="384048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18320" y="3794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3"/>
                </a:solidFill>
                <a:latin typeface="Calibri"/>
              </a:defRPr>
            </a:pPr>
            <a:r>
              <a:t>Vercel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18320" y="4251960"/>
            <a:ext cx="2331720" cy="384048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18320" y="42976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3"/>
                </a:solidFill>
                <a:latin typeface="Calibri"/>
              </a:defRPr>
            </a:pPr>
            <a:r>
              <a:t>PostGIS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A89A"/>
                </a:solidFill>
                <a:latin typeface="Calibri"/>
              </a:defRPr>
            </a:pPr>
            <a:r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Expected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4846320" cy="365760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40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Calibri"/>
              </a:defRPr>
            </a:pPr>
            <a:r>
              <a:t>❌  Before BhoomiSetu</a:t>
            </a:r>
          </a:p>
        </p:txBody>
      </p:sp>
      <p:sp>
        <p:nvSpPr>
          <p:cNvPr id="6" name="Oval 5"/>
          <p:cNvSpPr/>
          <p:nvPr/>
        </p:nvSpPr>
        <p:spPr>
          <a:xfrm>
            <a:off x="1280160" y="290779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DF3"/>
                </a:solidFill>
                <a:latin typeface="Calibri"/>
              </a:defRPr>
            </a:pPr>
            <a:r>
              <a:t>Reactive monitoring only</a:t>
            </a:r>
          </a:p>
        </p:txBody>
      </p:sp>
      <p:sp>
        <p:nvSpPr>
          <p:cNvPr id="8" name="Oval 7"/>
          <p:cNvSpPr/>
          <p:nvPr/>
        </p:nvSpPr>
        <p:spPr>
          <a:xfrm>
            <a:off x="1280160" y="345643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DF3"/>
                </a:solidFill>
                <a:latin typeface="Calibri"/>
              </a:defRPr>
            </a:pPr>
            <a:r>
              <a:t>Delayed risk identification</a:t>
            </a:r>
          </a:p>
        </p:txBody>
      </p:sp>
      <p:sp>
        <p:nvSpPr>
          <p:cNvPr id="10" name="Oval 9"/>
          <p:cNvSpPr/>
          <p:nvPr/>
        </p:nvSpPr>
        <p:spPr>
          <a:xfrm>
            <a:off x="1280160" y="400507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DF3"/>
                </a:solidFill>
                <a:latin typeface="Calibri"/>
              </a:defRPr>
            </a:pPr>
            <a:r>
              <a:t>Manual investigation</a:t>
            </a:r>
          </a:p>
        </p:txBody>
      </p:sp>
      <p:sp>
        <p:nvSpPr>
          <p:cNvPr id="12" name="Oval 11"/>
          <p:cNvSpPr/>
          <p:nvPr/>
        </p:nvSpPr>
        <p:spPr>
          <a:xfrm>
            <a:off x="1280160" y="4553711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4805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DF3"/>
                </a:solidFill>
                <a:latin typeface="Calibri"/>
              </a:defRPr>
            </a:pPr>
            <a:r>
              <a:t>No explainability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011680"/>
            <a:ext cx="4846320" cy="365760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16A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240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6A878"/>
                </a:solidFill>
                <a:latin typeface="Calibri"/>
              </a:defRPr>
            </a:pPr>
            <a:r>
              <a:t>✅  With BhoomiSetu</a:t>
            </a:r>
          </a:p>
        </p:txBody>
      </p:sp>
      <p:sp>
        <p:nvSpPr>
          <p:cNvPr id="16" name="Oval 15"/>
          <p:cNvSpPr/>
          <p:nvPr/>
        </p:nvSpPr>
        <p:spPr>
          <a:xfrm>
            <a:off x="6949440" y="2907792"/>
            <a:ext cx="109728" cy="109728"/>
          </a:xfrm>
          <a:prstGeom prst="ellipse">
            <a:avLst/>
          </a:prstGeom>
          <a:solidFill>
            <a:srgbClr val="16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DF3"/>
                </a:solidFill>
                <a:latin typeface="Calibri"/>
              </a:defRPr>
            </a:pPr>
            <a:r>
              <a:t>Early risk visibility</a:t>
            </a:r>
          </a:p>
        </p:txBody>
      </p:sp>
      <p:sp>
        <p:nvSpPr>
          <p:cNvPr id="18" name="Oval 17"/>
          <p:cNvSpPr/>
          <p:nvPr/>
        </p:nvSpPr>
        <p:spPr>
          <a:xfrm>
            <a:off x="6949440" y="3456432"/>
            <a:ext cx="109728" cy="109728"/>
          </a:xfrm>
          <a:prstGeom prst="ellipse">
            <a:avLst/>
          </a:prstGeom>
          <a:solidFill>
            <a:srgbClr val="16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DF3"/>
                </a:solidFill>
                <a:latin typeface="Calibri"/>
              </a:defRPr>
            </a:pPr>
            <a:r>
              <a:t>Explainable risk factors</a:t>
            </a:r>
          </a:p>
        </p:txBody>
      </p:sp>
      <p:sp>
        <p:nvSpPr>
          <p:cNvPr id="20" name="Oval 19"/>
          <p:cNvSpPr/>
          <p:nvPr/>
        </p:nvSpPr>
        <p:spPr>
          <a:xfrm>
            <a:off x="6949440" y="4005072"/>
            <a:ext cx="109728" cy="109728"/>
          </a:xfrm>
          <a:prstGeom prst="ellipse">
            <a:avLst/>
          </a:prstGeom>
          <a:solidFill>
            <a:srgbClr val="16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DF3"/>
                </a:solidFill>
                <a:latin typeface="Calibri"/>
              </a:defRPr>
            </a:pPr>
            <a:r>
              <a:t>Proactive intervention</a:t>
            </a:r>
          </a:p>
        </p:txBody>
      </p:sp>
      <p:sp>
        <p:nvSpPr>
          <p:cNvPr id="22" name="Oval 21"/>
          <p:cNvSpPr/>
          <p:nvPr/>
        </p:nvSpPr>
        <p:spPr>
          <a:xfrm>
            <a:off x="6949440" y="4553711"/>
            <a:ext cx="109728" cy="109728"/>
          </a:xfrm>
          <a:prstGeom prst="ellipse">
            <a:avLst/>
          </a:prstGeom>
          <a:solidFill>
            <a:srgbClr val="16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44805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DF3"/>
                </a:solidFill>
                <a:latin typeface="Calibri"/>
              </a:defRPr>
            </a:pPr>
            <a:r>
              <a:t>Data-driven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59436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B82"/>
                </a:solidFill>
                <a:latin typeface="Calibri"/>
              </a:defRPr>
            </a:pPr>
            <a:r>
              <a:t>Illustrative / Projected — Not Validated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A89A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2651760" cy="320040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Govt.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49039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Calibri"/>
              </a:defRPr>
            </a:pPr>
            <a:r>
              <a:t>Integration with government</a:t>
            </a:r>
            <a:br/>
            <a:r>
              <a:t>land records &amp; revenue databases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286000"/>
            <a:ext cx="2651760" cy="320040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5603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200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More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749039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Calibri"/>
              </a:defRPr>
            </a:pPr>
            <a:r>
              <a:t>Incorporate historical project</a:t>
            </a:r>
            <a:br/>
            <a:r>
              <a:t>data across all states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286000"/>
            <a:ext cx="2651760" cy="320040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🗺️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Better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749039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Calibri"/>
              </a:defRPr>
            </a:pPr>
            <a:r>
              <a:t>Improved district &amp; state-level</a:t>
            </a:r>
            <a:br/>
            <a:r>
              <a:t>comparative analytics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2286000"/>
            <a:ext cx="2651760" cy="320040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25603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3200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Nationwide 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749039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Calibri"/>
              </a:defRPr>
            </a:pPr>
            <a:r>
              <a:t>Deployment across</a:t>
            </a:r>
            <a:br/>
            <a:r>
              <a:t>infrastructure departments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Calibri"/>
              </a:defRPr>
            </a:pPr>
            <a:r>
              <a:t>BhoomiSetu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FA89A"/>
                </a:solidFill>
                <a:latin typeface="Calibri"/>
              </a:defRPr>
            </a:pPr>
            <a:r>
              <a:t>"From Delayed Response to Early Action."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6647" y="3657600"/>
            <a:ext cx="2377440" cy="50292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647" y="37033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DF3"/>
                </a:solidFill>
                <a:latin typeface="Calibri"/>
              </a:defRPr>
            </a:pPr>
            <a:r>
              <a:t>🧠 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26967" y="3657600"/>
            <a:ext cx="2377440" cy="50292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26967" y="37033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DF3"/>
                </a:solidFill>
                <a:latin typeface="Calibri"/>
              </a:defRPr>
            </a:pPr>
            <a:r>
              <a:t>🗺️  GIS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3657600"/>
            <a:ext cx="2377440" cy="50292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87287" y="37033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DF3"/>
                </a:solidFill>
                <a:latin typeface="Calibri"/>
              </a:defRPr>
            </a:pPr>
            <a:r>
              <a:t>🔍  Explainability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47606" y="3657600"/>
            <a:ext cx="2377440" cy="502920"/>
          </a:xfrm>
          <a:prstGeom prst="roundRect">
            <a:avLst/>
          </a:prstGeom>
          <a:solidFill>
            <a:srgbClr val="162542"/>
          </a:solidFill>
          <a:ln w="12700">
            <a:solidFill>
              <a:srgbClr val="0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7606" y="37033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DF3"/>
                </a:solidFill>
                <a:latin typeface="Calibri"/>
              </a:defRPr>
            </a:pPr>
            <a:r>
              <a:t>📊  Decision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7548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B0BEC5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26B82"/>
                </a:solidFill>
                <a:latin typeface="Calibri"/>
              </a:defRPr>
            </a:pPr>
            <a:r>
              <a:t>Smart India Hackathon 2026  •  Team BhoomiSetu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